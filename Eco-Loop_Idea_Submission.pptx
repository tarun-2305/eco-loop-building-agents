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983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SUBMISSION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ECO-LOOP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LLM-Driven HVAC Control for Commercial Buildings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01752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3529584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566160" y="3529584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AI-Driven Dynamic Building Energy Optimization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566160" y="4041648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Green Technology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553712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66160" y="4553712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065776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566160" y="5065776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Tarun R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5577840"/>
            <a:ext cx="292608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66160" y="557784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20470107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TITLE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Static Buildings Into</a:t>
            </a:r>
            <a:endParaRPr lang="en-US" sz="30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Self-Correcting Physical AI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276856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Idea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262432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closed-loop autonomous agent that pairs NREL's EnergyPlus physics simulator with a local, open-source LLM reasoning loop (ReAct) to observe live zone conditions and continuously re-decide heating and cooling setpoints — instead of running on a fixed schedule.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675888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6758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34440" y="3575304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Solves The Problem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922776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consume roughly 40% of global energy, yet most Building Management Systems still run on static, decades-old rule schedules that can't react to real-time weather, occupancy, or grid-price signals. Eco-Loop replaces that fixed schedule with a system that reasons every cycle.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818888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974336"/>
            <a:ext cx="457200" cy="4572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9743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34440" y="4873752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Uniqueness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221224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proposes intent — it never computes setpoint math or writes to an actuator. Every decision passes through a deterministic solver and is validated twice against hard safety bounds before it reaches the building, over a standardized MCP tool-calling interface.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 &amp; Control Pipeline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4684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70404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C-API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00728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6448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(Ollama · Qwen2.5)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76772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2492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052816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98536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Fanger PMV · ISO 7730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28860" y="1691640"/>
            <a:ext cx="1711452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974580" y="1691640"/>
            <a:ext cx="16200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DuckDB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2606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THE CLOSED CONTROL LOOP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" y="3063240"/>
            <a:ext cx="1783080" cy="1234440"/>
          </a:xfrm>
          <a:prstGeom prst="rect">
            <a:avLst/>
          </a:prstGeom>
          <a:solidFill>
            <a:srgbClr val="EDED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9125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Sensors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41832" y="3566160"/>
            <a:ext cx="16367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EnergyPlus zone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651760" y="3680460"/>
            <a:ext cx="3840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035808" y="3063240"/>
            <a:ext cx="1783080" cy="1234440"/>
          </a:xfrm>
          <a:prstGeom prst="rect">
            <a:avLst/>
          </a:prstGeom>
          <a:solidFill>
            <a:srgbClr val="EDED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35808" y="319125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108960" y="3566160"/>
            <a:ext cx="16367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C-API handle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18888" y="3680460"/>
            <a:ext cx="3840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202936" y="3063240"/>
            <a:ext cx="1783080" cy="1234440"/>
          </a:xfrm>
          <a:prstGeom prst="rect">
            <a:avLst/>
          </a:prstGeom>
          <a:solidFill>
            <a:srgbClr val="EDED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02936" y="319125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76088" y="3566160"/>
            <a:ext cx="16367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ReAct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986016" y="3680460"/>
            <a:ext cx="3840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70064" y="3063240"/>
            <a:ext cx="1783080" cy="1234440"/>
          </a:xfrm>
          <a:prstGeom prst="rect">
            <a:avLst/>
          </a:prstGeom>
          <a:solidFill>
            <a:srgbClr val="EDED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70064" y="319125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 Tools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443216" y="3566160"/>
            <a:ext cx="16367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+ validate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(deterministic)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9153144" y="3680460"/>
            <a:ext cx="384048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537192" y="3063240"/>
            <a:ext cx="1783080" cy="1234440"/>
          </a:xfrm>
          <a:prstGeom prst="rect">
            <a:avLst/>
          </a:prstGeom>
          <a:solidFill>
            <a:srgbClr val="EDEDE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537192" y="319125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Actuators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10344" y="3566160"/>
            <a:ext cx="16367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write-</a:t>
            </a:r>
            <a:endParaRPr lang="en-US" sz="9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EnergyPlus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428732" y="4297680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760220" y="4681728"/>
            <a:ext cx="8668512" cy="0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760220" y="4297680"/>
            <a:ext cx="0" cy="384048"/>
          </a:xfrm>
          <a:prstGeom prst="line">
            <a:avLst/>
          </a:prstGeom>
          <a:noFill/>
          <a:ln w="12700">
            <a:solidFill>
              <a:srgbClr val="8C8C8C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1760220" y="4736592"/>
            <a:ext cx="8668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re-evaluation every decision cycle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Proven Building Blocks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317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FEASIBLE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212848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12264"/>
            <a:ext cx="50612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NREL's production-grade EnergyPlus engine — no unproven physics to validate from scratch.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3044952"/>
            <a:ext cx="50612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 model follows ISO 7730 / ASHRAE 55, established international standards, not novel unverified math.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78224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977640"/>
            <a:ext cx="50612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local, open-source LLM stack (Ollama) — no cloud dependency, no per-call API cost, data stays on-site.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10912"/>
            <a:ext cx="82296" cy="82296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910328"/>
            <a:ext cx="50612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single-host architecture — deployable as a working proof-of-concept within a short PoC timeline.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23076" y="1783080"/>
            <a:ext cx="5317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23076" y="2167128"/>
            <a:ext cx="5317236" cy="7680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60236" y="2231136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460236" y="2386584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Full-year run too slow given LLM latency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60236" y="265176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Representative-day sampling strategy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23076" y="3063240"/>
            <a:ext cx="5317236" cy="7680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1" name="Text 19"/>
          <p:cNvSpPr/>
          <p:nvPr/>
        </p:nvSpPr>
        <p:spPr>
          <a:xfrm>
            <a:off x="6460236" y="3127248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460236" y="3282696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unsafe setpoint slips through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60236" y="3547872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Two independent validator checks before every actuation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23076" y="3959352"/>
            <a:ext cx="5317236" cy="7680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5" name="Text 23"/>
          <p:cNvSpPr/>
          <p:nvPr/>
        </p:nvSpPr>
        <p:spPr>
          <a:xfrm>
            <a:off x="6460236" y="4023360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60236" y="4178808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server crashes or times out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60236" y="4443984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Automatic fallback holds last known-good setpoints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23076" y="4855464"/>
            <a:ext cx="5317236" cy="768096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29" name="Text 27"/>
          <p:cNvSpPr/>
          <p:nvPr/>
        </p:nvSpPr>
        <p:spPr>
          <a:xfrm>
            <a:off x="6460236" y="4919472"/>
            <a:ext cx="50429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60236" y="5074920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context grows over multi-day runs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60236" y="5340096"/>
            <a:ext cx="50429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Two-tier memory: rolling window + periodic reflection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 &amp; Monitoring Dashboard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MAP  (src/)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148840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2148840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2148840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38678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38678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0" y="3138678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138678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28516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8516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0" y="4128516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0" y="4128516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18354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18354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0" y="5118354"/>
            <a:ext cx="2468880" cy="77038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5118354"/>
            <a:ext cx="2468880" cy="77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783080"/>
            <a:ext cx="5513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DASHBOARD (read-only)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126480" y="2148840"/>
            <a:ext cx="5513832" cy="361188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148840"/>
            <a:ext cx="5513832" cy="2743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6254496" y="224942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55664" y="224942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656832" y="2249424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6254496" y="2551176"/>
            <a:ext cx="2564892" cy="1476756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45936" y="2624328"/>
            <a:ext cx="23820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Telemetry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345936" y="3698748"/>
            <a:ext cx="23820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· RH · trend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947404" y="2551176"/>
            <a:ext cx="2564892" cy="1476756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38844" y="2624328"/>
            <a:ext cx="23820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Setpoints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38844" y="3698748"/>
            <a:ext cx="23820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heating / cooling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254496" y="4155948"/>
            <a:ext cx="2564892" cy="1476756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5936" y="4229100"/>
            <a:ext cx="23820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PMV Compliance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45936" y="5303520"/>
            <a:ext cx="23820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gauge · % in band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947404" y="4155948"/>
            <a:ext cx="2564892" cy="1476756"/>
          </a:xfrm>
          <a:prstGeom prst="rect">
            <a:avLst/>
          </a:prstGeom>
          <a:solidFill>
            <a:srgbClr val="EDEDED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38844" y="4229100"/>
            <a:ext cx="23820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38844" y="5303520"/>
            <a:ext cx="23820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cycle_id trace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repository · working prototype · recorded demo available alongside this submission.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37392" y="-502920"/>
            <a:ext cx="1554480" cy="1554480"/>
          </a:xfrm>
          <a:prstGeom prst="ellipse">
            <a:avLst/>
          </a:prstGeom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530584" y="-109728"/>
            <a:ext cx="768096" cy="768096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Standards &amp; Prior Work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317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&amp; COMFORT STANDARDS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53172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43230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2322576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NREL — EnergyPlus Runtime API Documentation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786384" y="3172968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ANSI/ASHRAE Standard 55-2023 — Thermal Environmental Conditions for Human Occupancy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4023360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7730:2005 — Analytical Determination of PMV/PPD Thermal Comfort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4873752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Fanger, P.O. — Thermal Comfort: Analysis and Applications (1970)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23076" y="1874520"/>
            <a:ext cx="53172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CONTROL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3076" y="2194560"/>
            <a:ext cx="5317236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3076" y="2432304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6560820" y="2322576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Yao et al. — ReAct: Synergizing Reasoning and Acting in Language Models, ICLR 2023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23076" y="3282696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6560820" y="3172968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Drgoňa et al. — All You Need to Know About MPC for Buildings, Annual Reviews in Control, 2020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23076" y="4133088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60820" y="4023360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&amp; Hong — RL for Building Controls: Opportunities &amp; Challenges, Applied Energy, 2020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23076" y="4983480"/>
            <a:ext cx="73152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6560820" y="4873752"/>
            <a:ext cx="50794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Specification — Anthropic / MCP Steering Committee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ECO-LOOP BUILDING AGENTS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</Words>
  <Application>Microsoft Office PowerPoint</Application>
  <PresentationFormat>Widescreen</PresentationFormat>
  <Paragraphs>123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Tarun Raghavendra</cp:lastModifiedBy>
  <cp:revision>2</cp:revision>
  <dcterms:created xsi:type="dcterms:W3CDTF">2026-07-26T05:43:47Z</dcterms:created>
  <dcterms:modified xsi:type="dcterms:W3CDTF">2026-07-26T05:50:41Z</dcterms:modified>
</cp:coreProperties>
</file>